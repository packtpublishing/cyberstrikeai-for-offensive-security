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authors.xml" ContentType="application/vnd.ms-powerpoint.authors+xml"/>
  <Override PartName="/ppt/comments/modernComment_103_0.xml" ContentType="application/vnd.ms-powerpoint.comment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308" r:id="rId2"/>
    <p:sldId id="258" r:id="rId3"/>
    <p:sldId id="305" r:id="rId4"/>
    <p:sldId id="259" r:id="rId5"/>
    <p:sldId id="306" r:id="rId6"/>
    <p:sldId id="260" r:id="rId7"/>
    <p:sldId id="309" r:id="rId8"/>
    <p:sldId id="310" r:id="rId9"/>
    <p:sldId id="311" r:id="rId10"/>
    <p:sldId id="312" r:id="rId11"/>
    <p:sldId id="313" r:id="rId12"/>
    <p:sldId id="314" r:id="rId13"/>
    <p:sldId id="323" r:id="rId14"/>
    <p:sldId id="324" r:id="rId15"/>
    <p:sldId id="315" r:id="rId16"/>
    <p:sldId id="316" r:id="rId17"/>
    <p:sldId id="325" r:id="rId18"/>
    <p:sldId id="317" r:id="rId19"/>
    <p:sldId id="318" r:id="rId20"/>
    <p:sldId id="319" r:id="rId21"/>
    <p:sldId id="320" r:id="rId22"/>
    <p:sldId id="326" r:id="rId23"/>
    <p:sldId id="327" r:id="rId24"/>
    <p:sldId id="321" r:id="rId25"/>
    <p:sldId id="322" r:id="rId26"/>
    <p:sldId id="329" r:id="rId27"/>
    <p:sldId id="328" r:id="rId28"/>
    <p:sldId id="330" r:id="rId29"/>
    <p:sldId id="304" r:id="rId30"/>
  </p:sldIdLst>
  <p:sldSz cx="18288000" cy="10287000"/>
  <p:notesSz cx="6858000" cy="9144000"/>
  <p:embeddedFontLst>
    <p:embeddedFont>
      <p:font typeface="Lexend Deca" panose="020B0604020202020204" charset="0"/>
      <p:regular r:id="rId32"/>
    </p:embeddedFont>
    <p:embeddedFont>
      <p:font typeface="Outfit" panose="020B0604020202020204" charset="0"/>
      <p:regular r:id="rId33"/>
    </p:embeddedFont>
    <p:embeddedFont>
      <p:font typeface="Outfit Bold" panose="020B0604020202020204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898A8C-9989-D28A-5BE9-090467060332}" name="William Thomas" initials="WT" userId="S::wthomas@teamcymru.onmicrosoft.com::a660fdd1-8f10-46a8-b46e-eeb2e5152a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46" autoAdjust="0"/>
    <p:restoredTop sz="94656" autoAdjust="0"/>
  </p:normalViewPr>
  <p:slideViewPr>
    <p:cSldViewPr>
      <p:cViewPr varScale="1">
        <p:scale>
          <a:sx n="52" d="100"/>
          <a:sy n="52" d="100"/>
        </p:scale>
        <p:origin x="3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/Relationships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B027A2-B7F7-B24A-954D-4831A5478E05}" authorId="{B0898A8C-9989-D28A-5BE9-090467060332}" status="resolved" created="2026-04-13T23:02:45.193" complete="100000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US"/>
          <a:t>https://www.team-cymru.com/post/tracking-cyberstrikeai-usage
https://gemini.google.com/app/d7991f142f4d50b8?utm_source=app_launcher&amp;utm_medium=owned&amp;utm_campaign=base_all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286F0-5D44-442A-89D7-9EA0829990CE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3A928-C791-423D-8AB9-F59BCD590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5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CF84-7D22-98C9-CD1F-A7E42F91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DC22E-6750-9425-DD7A-AC636AC6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D3774-5C32-3EC6-C8F4-3D5C8AA97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0BA43-88C5-B71E-BEE8-FD5B98A9A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68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FF55-ABA5-6CEB-A629-94C7F2B6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5612-AF3A-DEEE-72B3-F9BE2E61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00146-ABC2-84A6-4A65-19D79D94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53FD3-76F4-08F5-EC8C-0591A54F3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65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53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91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4C19-7750-570A-F3B5-5072BEEA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5983E-DACA-45D6-F674-70608BCD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F13CD-ADB9-CFAE-3232-AD391B866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F7A9A-7700-2C54-DEA8-387D1E1DF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99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AC345-E876-41E5-743E-7F4D5689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66940-1C9F-E585-9317-09A57912B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1E990-304B-5157-197E-3A753D02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42CE3-DDFC-BBA2-7B4C-679005AA4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7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DDA8-3A40-8854-6568-40BEA5D5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FF793-5D4B-CBAB-377E-688315A59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9DF99-E2AD-F76A-1173-6E8055042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C73D2-0BAC-784B-B544-65DA7C233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230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023D-8CB8-CD7D-19AB-7F374C5E3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3B6FD-2BFA-0754-D29E-485D2420F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CCF03-5E48-8805-A793-2858DEFC2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DF3CD-5E71-9228-E416-65A5B137E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32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375B-2CE0-1B2C-E6A8-1D670F13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0A3A5-63F4-BB47-6C95-E6459E52A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8E793-F8F9-F69A-56BB-0200227DA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6A940-A6C8-6EFB-0DAC-E4CD457FA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777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14D5-7159-B572-7A5E-8DA8437B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68766-0FAE-52FF-2ED6-517781B86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CBB16-EAC0-0B35-729E-130E073F7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AC3B3-964B-FEC1-9BC1-DE4F08273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66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9D1F-825C-0652-9139-B0BC7D85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9C18E-62D7-ADDD-BB59-B095F2C95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679EB-D5DE-65B7-F413-8B7AB1C84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7732F-B741-0621-F8A1-1245D6147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14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9B88A-CF78-2C8E-5BEA-DC40EBB9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B8948-2DEF-61A2-BF02-CF37994EA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B1D41-1085-B7D6-392C-4F64ACB7D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D1D85-7E9C-BFAF-FF2A-A1D670206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25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CD32-27A7-5CF5-BB98-1ADDA4CB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5445F-5AC2-075F-48F3-A20364508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21C1A-5D00-C46A-F046-EA2ECFD66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372CD-F144-93B8-9A54-C18E4FF9E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659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76FA-6D8E-694F-59AC-61693B7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BC26B-4CF1-CA20-D323-A38A72E70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A28B9-D8CA-8B89-E9E1-4C39586CC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D86F9-4AF0-56CD-2440-8D6424F11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360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D9AB-C8AB-B727-2836-A997121B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1A4E4-69C9-E5F4-4EC9-2225AD170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94B87-4440-3BF2-3CAF-23B773890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69598-30F3-3A3C-B890-4CB2EDB31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375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EA43C-DA1C-CE38-8008-F2B39838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A2073-ABD2-3557-F07F-83383C14C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ABCD8-1DFB-663B-1056-4E98BAF60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FA983-04AF-71D1-C69D-777C6043B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115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8CE05-F14F-65B8-4955-177BC4A3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DE6B9-78F9-C1B8-6697-028166E6A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E4C9A-86A2-D48D-CEBB-7DD773CC3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E33F7-25BC-C2F0-2009-82EDDA1FC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52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008A-EFF4-BC0D-3C55-1CE33997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44BCB-09C8-BE5F-8CE2-EFC22E060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0531D-AADB-FCC7-8C6F-38D8CA42D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22129-1292-BD5C-A20B-A40D1CB00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03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DEC6D-7DDF-3000-58AA-57F85E0E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BD23A-FF21-B0EB-2F98-F39D72E28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2BEA7-4BC4-7022-B539-082635CFD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1FB10-FE76-4E06-C526-3D4FE62CB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61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4974F-450E-E84F-2D2D-5CAD1B1D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38212F-8A1F-C683-42C3-2ED69E62A216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DE79C6-8DA5-045F-97EE-CAFCB3462848}"/>
              </a:ext>
            </a:extLst>
          </p:cNvPr>
          <p:cNvGrpSpPr/>
          <p:nvPr/>
        </p:nvGrpSpPr>
        <p:grpSpPr>
          <a:xfrm>
            <a:off x="0" y="2903094"/>
            <a:ext cx="18288000" cy="1110924"/>
            <a:chOff x="0" y="0"/>
            <a:chExt cx="5287621" cy="3212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667A5B-D7FF-A013-10EB-F450131B3004}"/>
                </a:ext>
              </a:extLst>
            </p:cNvPr>
            <p:cNvSpPr/>
            <p:nvPr/>
          </p:nvSpPr>
          <p:spPr>
            <a:xfrm>
              <a:off x="0" y="0"/>
              <a:ext cx="5287621" cy="321202"/>
            </a:xfrm>
            <a:custGeom>
              <a:avLst/>
              <a:gdLst/>
              <a:ahLst/>
              <a:cxnLst/>
              <a:rect l="l" t="t" r="r" b="b"/>
              <a:pathLst>
                <a:path w="5287621" h="321202">
                  <a:moveTo>
                    <a:pt x="0" y="0"/>
                  </a:moveTo>
                  <a:lnTo>
                    <a:pt x="5287621" y="0"/>
                  </a:lnTo>
                  <a:lnTo>
                    <a:pt x="5287621" y="321202"/>
                  </a:lnTo>
                  <a:lnTo>
                    <a:pt x="0" y="321202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3FF3DF-A3B0-2635-0B3D-4F8DCBDC4D4F}"/>
                </a:ext>
              </a:extLst>
            </p:cNvPr>
            <p:cNvSpPr txBox="1"/>
            <p:nvPr/>
          </p:nvSpPr>
          <p:spPr>
            <a:xfrm>
              <a:off x="0" y="-19050"/>
              <a:ext cx="5287621" cy="340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5F0C4D2-4ADC-FE03-5D1D-C8F2CBF37931}"/>
              </a:ext>
            </a:extLst>
          </p:cNvPr>
          <p:cNvGrpSpPr/>
          <p:nvPr/>
        </p:nvGrpSpPr>
        <p:grpSpPr>
          <a:xfrm>
            <a:off x="14417256" y="6466736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8D4C75-5BC5-4EBF-CDC3-3930F72EF9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A58E014-A7CE-AA7E-EA6F-085645C70DCD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4818A35-F850-8BC4-80EE-7CF068E955D5}"/>
              </a:ext>
            </a:extLst>
          </p:cNvPr>
          <p:cNvSpPr/>
          <p:nvPr/>
        </p:nvSpPr>
        <p:spPr>
          <a:xfrm>
            <a:off x="972949" y="802867"/>
            <a:ext cx="4210171" cy="863085"/>
          </a:xfrm>
          <a:custGeom>
            <a:avLst/>
            <a:gdLst/>
            <a:ahLst/>
            <a:cxnLst/>
            <a:rect l="l" t="t" r="r" b="b"/>
            <a:pathLst>
              <a:path w="4210171" h="863085">
                <a:moveTo>
                  <a:pt x="0" y="0"/>
                </a:moveTo>
                <a:lnTo>
                  <a:pt x="4210172" y="0"/>
                </a:lnTo>
                <a:lnTo>
                  <a:pt x="4210172" y="863085"/>
                </a:lnTo>
                <a:lnTo>
                  <a:pt x="0" y="863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8AEF8C-A0C5-80E0-D64A-98108A7283DA}"/>
              </a:ext>
            </a:extLst>
          </p:cNvPr>
          <p:cNvSpPr txBox="1"/>
          <p:nvPr/>
        </p:nvSpPr>
        <p:spPr>
          <a:xfrm>
            <a:off x="972949" y="2936269"/>
            <a:ext cx="16857851" cy="800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CyberStrikeAI: The first AI-augmented hacking framework to go global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23C20A-9466-2408-104C-3B6B7016F2EA}"/>
              </a:ext>
            </a:extLst>
          </p:cNvPr>
          <p:cNvSpPr txBox="1"/>
          <p:nvPr/>
        </p:nvSpPr>
        <p:spPr>
          <a:xfrm>
            <a:off x="10523069" y="7249108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Will Thomas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4B44BE-AF61-BD2F-EF10-2091C68B7AA5}"/>
              </a:ext>
            </a:extLst>
          </p:cNvPr>
          <p:cNvSpPr txBox="1"/>
          <p:nvPr/>
        </p:nvSpPr>
        <p:spPr>
          <a:xfrm>
            <a:off x="1395703" y="856585"/>
            <a:ext cx="33646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Starting Now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5570E2D-C862-28C2-8155-7CE35AD6397B}"/>
              </a:ext>
            </a:extLst>
          </p:cNvPr>
          <p:cNvSpPr txBox="1"/>
          <p:nvPr/>
        </p:nvSpPr>
        <p:spPr>
          <a:xfrm>
            <a:off x="10728788" y="8005392"/>
            <a:ext cx="3478918" cy="83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Senior Threat Intelligence Advisor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9E2BF91-27A9-150F-6C73-340CF2CA5CAF}"/>
              </a:ext>
            </a:extLst>
          </p:cNvPr>
          <p:cNvSpPr/>
          <p:nvPr/>
        </p:nvSpPr>
        <p:spPr>
          <a:xfrm>
            <a:off x="10614594" y="7938718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6A32B4-4DCC-183C-2ED1-147E4D1F02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5019" y="6695731"/>
            <a:ext cx="2357581" cy="2333969"/>
          </a:xfrm>
          <a:prstGeom prst="ellipse">
            <a:avLst/>
          </a:prstGeom>
          <a:ln w="38100" cap="rnd">
            <a:solidFill>
              <a:schemeClr val="bg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597681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4479925"/>
            <a:ext cx="5829299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CyberStrikeAI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68950"/>
            <a:ext cx="5676900" cy="1727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The first AI-augmented hacking framework to go global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AF79-6D66-69C5-BD51-FDD29B80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A81F84-2D78-7067-E996-43BDCAEACF8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C115DDE0-6B3D-18AA-AB37-E7D8A14C9C46}"/>
              </a:ext>
            </a:extLst>
          </p:cNvPr>
          <p:cNvSpPr txBox="1">
            <a:spLocks/>
          </p:cNvSpPr>
          <p:nvPr/>
        </p:nvSpPr>
        <p:spPr>
          <a:xfrm>
            <a:off x="8566806" y="2491849"/>
            <a:ext cx="5640900" cy="903316"/>
          </a:xfrm>
          <a:prstGeom prst="rect">
            <a:avLst/>
          </a:prstGeom>
        </p:spPr>
        <p:txBody>
          <a:bodyPr vert="horz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bg1"/>
                </a:solidFill>
              </a:rPr>
              <a:t>Abou</a:t>
            </a: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pl-PL" dirty="0"/>
              <a:t> </a:t>
            </a:r>
            <a:r>
              <a:rPr lang="en-US" dirty="0">
                <a:solidFill>
                  <a:srgbClr val="00CD8F"/>
                </a:solidFill>
              </a:rPr>
              <a:t>WILL THOMAS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273BFE-D528-2975-77E7-7CAFE278CA06}"/>
              </a:ext>
            </a:extLst>
          </p:cNvPr>
          <p:cNvSpPr txBox="1">
            <a:spLocks/>
          </p:cNvSpPr>
          <p:nvPr/>
        </p:nvSpPr>
        <p:spPr>
          <a:xfrm>
            <a:off x="8641280" y="3521284"/>
            <a:ext cx="8618019" cy="550841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Working for Team Cymru, the first ever Threat Intelligence provider specialising in NetFlow communications and adversary infrastructure tracking</a:t>
            </a:r>
          </a:p>
          <a:p>
            <a:pPr>
              <a:spcBef>
                <a:spcPts val="1000"/>
              </a:spcBef>
            </a:pP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Previously the Head of Threat Hunting at Equinix, the world’s largest data </a:t>
            </a:r>
            <a:r>
              <a:rPr lang="en-GB" sz="2800" dirty="0" err="1">
                <a:solidFill>
                  <a:schemeClr val="bg1"/>
                </a:solidFill>
                <a:latin typeface="Outfit" panose="020B0604020202020204" charset="0"/>
              </a:rPr>
              <a:t>center</a:t>
            </a: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 company</a:t>
            </a:r>
          </a:p>
          <a:p>
            <a:pPr>
              <a:spcBef>
                <a:spcPts val="1000"/>
              </a:spcBef>
            </a:pP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Co-author of SANS FOR589: Cybercrime Investigations</a:t>
            </a:r>
          </a:p>
          <a:p>
            <a:pPr>
              <a:spcBef>
                <a:spcPts val="1000"/>
              </a:spcBef>
            </a:pP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Author of the </a:t>
            </a:r>
            <a:r>
              <a:rPr lang="en-GB" sz="2800" dirty="0" err="1">
                <a:solidFill>
                  <a:schemeClr val="bg1"/>
                </a:solidFill>
                <a:latin typeface="Outfit" panose="020B0604020202020204" charset="0"/>
              </a:rPr>
              <a:t>BushidoToken</a:t>
            </a: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 Threat Intel blog</a:t>
            </a:r>
          </a:p>
          <a:p>
            <a:pPr>
              <a:spcBef>
                <a:spcPts val="1000"/>
              </a:spcBef>
            </a:pP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Co-founder of </a:t>
            </a:r>
            <a:r>
              <a:rPr lang="en-GB" sz="2800" dirty="0" err="1">
                <a:solidFill>
                  <a:schemeClr val="bg1"/>
                </a:solidFill>
                <a:latin typeface="Outfit" panose="020B0604020202020204" charset="0"/>
              </a:rPr>
              <a:t>BSides</a:t>
            </a:r>
            <a:r>
              <a:rPr lang="en-GB" sz="2800" dirty="0">
                <a:solidFill>
                  <a:schemeClr val="bg1"/>
                </a:solidFill>
                <a:latin typeface="Outfit" panose="020B0604020202020204" charset="0"/>
              </a:rPr>
              <a:t> Bournemouth</a:t>
            </a:r>
          </a:p>
          <a:p>
            <a:pPr>
              <a:spcBef>
                <a:spcPts val="1000"/>
              </a:spcBef>
            </a:pPr>
            <a:endParaRPr lang="en-US" sz="2800" dirty="0">
              <a:solidFill>
                <a:schemeClr val="bg1"/>
              </a:solidFill>
              <a:latin typeface="Outfit" panose="020B0604020202020204" charset="0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642F6EE5-E3B0-33A4-97E4-828BD03D2B61}"/>
              </a:ext>
            </a:extLst>
          </p:cNvPr>
          <p:cNvGrpSpPr/>
          <p:nvPr/>
        </p:nvGrpSpPr>
        <p:grpSpPr>
          <a:xfrm>
            <a:off x="4354237" y="4076305"/>
            <a:ext cx="2791564" cy="2791564"/>
            <a:chOff x="0" y="0"/>
            <a:chExt cx="812800" cy="812800"/>
          </a:xfrm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A87806DB-AD93-C495-7451-1FDF05CC9B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8">
              <a:extLst>
                <a:ext uri="{FF2B5EF4-FFF2-40B4-BE49-F238E27FC236}">
                  <a16:creationId xmlns:a16="http://schemas.microsoft.com/office/drawing/2014/main" id="{80513AED-14C6-E565-615C-DF78979D0B91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TextBox 14">
            <a:extLst>
              <a:ext uri="{FF2B5EF4-FFF2-40B4-BE49-F238E27FC236}">
                <a16:creationId xmlns:a16="http://schemas.microsoft.com/office/drawing/2014/main" id="{A9482A32-B92C-172B-426B-FEAB4336BF27}"/>
              </a:ext>
            </a:extLst>
          </p:cNvPr>
          <p:cNvSpPr txBox="1"/>
          <p:nvPr/>
        </p:nvSpPr>
        <p:spPr>
          <a:xfrm>
            <a:off x="460050" y="4858677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Will Thomas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D5EBF500-D96D-3C0D-21B9-FCAD0FB067EA}"/>
              </a:ext>
            </a:extLst>
          </p:cNvPr>
          <p:cNvSpPr txBox="1"/>
          <p:nvPr/>
        </p:nvSpPr>
        <p:spPr>
          <a:xfrm>
            <a:off x="665769" y="5614961"/>
            <a:ext cx="3478918" cy="83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Senior Threat Intelligence Advisor</a:t>
            </a:r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E96F516C-8A7E-B745-CDBB-BD90E4672BC4}"/>
              </a:ext>
            </a:extLst>
          </p:cNvPr>
          <p:cNvSpPr/>
          <p:nvPr/>
        </p:nvSpPr>
        <p:spPr>
          <a:xfrm>
            <a:off x="551575" y="5548287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507415-E0B9-48F1-AA5C-C9D1AA239C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305300"/>
            <a:ext cx="2357581" cy="2333969"/>
          </a:xfrm>
          <a:prstGeom prst="ellipse">
            <a:avLst/>
          </a:prstGeom>
          <a:ln w="38100" cap="rnd">
            <a:solidFill>
              <a:schemeClr val="bg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28539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023487" cy="10287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2085975"/>
            <a:ext cx="656655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1828081"/>
            <a:ext cx="51435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>
            <a:off x="8184832" y="2628900"/>
            <a:ext cx="88933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8184640" y="3517900"/>
            <a:ext cx="89030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8315132" y="2667000"/>
            <a:ext cx="3514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3049" y="2818130"/>
            <a:ext cx="7839023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Evolving Threat Landscape</a:t>
            </a:r>
          </a:p>
        </p:txBody>
      </p:sp>
      <p:sp>
        <p:nvSpPr>
          <p:cNvPr id="9" name="AutoShape 9"/>
          <p:cNvSpPr/>
          <p:nvPr/>
        </p:nvSpPr>
        <p:spPr>
          <a:xfrm>
            <a:off x="8184640" y="4445000"/>
            <a:ext cx="89696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8315131" y="3613151"/>
            <a:ext cx="389551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3050" y="4549775"/>
            <a:ext cx="6076950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Introduction to CyberStrikeAI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84640" y="528956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8315132" y="4540250"/>
            <a:ext cx="3607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63049" y="5470544"/>
            <a:ext cx="8064513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Developer’s State Affiliations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84832" y="612713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8315132" y="5375919"/>
            <a:ext cx="3895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5132" y="6207770"/>
            <a:ext cx="37309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05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345" y="8757648"/>
            <a:ext cx="254098" cy="336585"/>
            <a:chOff x="0" y="0"/>
            <a:chExt cx="508203" cy="673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54" cy="673227"/>
            </a:xfrm>
            <a:custGeom>
              <a:avLst/>
              <a:gdLst/>
              <a:ahLst/>
              <a:cxnLst/>
              <a:rect l="l" t="t" r="r" b="b"/>
              <a:pathLst>
                <a:path w="508254" h="673227">
                  <a:moveTo>
                    <a:pt x="50825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60168" y="8757648"/>
            <a:ext cx="1031100" cy="336585"/>
            <a:chOff x="0" y="0"/>
            <a:chExt cx="2062201" cy="6731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2226" cy="673227"/>
            </a:xfrm>
            <a:custGeom>
              <a:avLst/>
              <a:gdLst/>
              <a:ahLst/>
              <a:cxnLst/>
              <a:rect l="l" t="t" r="r" b="b"/>
              <a:pathLst>
                <a:path w="2062226" h="673227">
                  <a:moveTo>
                    <a:pt x="206222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2062226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2276627" y="8757648"/>
            <a:ext cx="954557" cy="336585"/>
            <a:chOff x="0" y="0"/>
            <a:chExt cx="1909115" cy="6731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9064" cy="673227"/>
            </a:xfrm>
            <a:custGeom>
              <a:avLst/>
              <a:gdLst/>
              <a:ahLst/>
              <a:cxnLst/>
              <a:rect l="l" t="t" r="r" b="b"/>
              <a:pathLst>
                <a:path w="1909064" h="673227">
                  <a:moveTo>
                    <a:pt x="190906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190906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643151" y="8757648"/>
            <a:ext cx="253898" cy="336585"/>
            <a:chOff x="0" y="0"/>
            <a:chExt cx="507797" cy="6731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7746" cy="673227"/>
            </a:xfrm>
            <a:custGeom>
              <a:avLst/>
              <a:gdLst/>
              <a:ahLst/>
              <a:cxnLst/>
              <a:rect l="l" t="t" r="r" b="b"/>
              <a:pathLst>
                <a:path w="507746" h="673227">
                  <a:moveTo>
                    <a:pt x="50774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7746" y="0"/>
                  </a:lnTo>
                  <a:close/>
                </a:path>
              </a:pathLst>
            </a:custGeom>
            <a:solidFill>
              <a:srgbClr val="57B7F7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4478074" y="8757648"/>
            <a:ext cx="254051" cy="336585"/>
            <a:chOff x="0" y="0"/>
            <a:chExt cx="508102" cy="6731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127" cy="673227"/>
            </a:xfrm>
            <a:custGeom>
              <a:avLst/>
              <a:gdLst/>
              <a:ahLst/>
              <a:cxnLst/>
              <a:rect l="l" t="t" r="r" b="b"/>
              <a:pathLst>
                <a:path w="508127" h="673227">
                  <a:moveTo>
                    <a:pt x="508127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127" y="0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63050" y="6336684"/>
            <a:ext cx="7815338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Global Tracking &amp; Infrastructure</a:t>
            </a:r>
          </a:p>
        </p:txBody>
      </p: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30" name="Freeform 30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8184640" y="705550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8316671" y="7136139"/>
            <a:ext cx="3696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63050" y="7289492"/>
            <a:ext cx="8591550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CyberStrikeAI NetFlow Analysis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184832" y="801244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Box 37"/>
          <p:cNvSpPr txBox="1"/>
          <p:nvPr/>
        </p:nvSpPr>
        <p:spPr>
          <a:xfrm>
            <a:off x="8319245" y="8093084"/>
            <a:ext cx="3648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63050" y="8155324"/>
            <a:ext cx="8134350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Broader AI Toolset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0" y="3698875"/>
            <a:ext cx="5257800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Team Cymru’s Role</a:t>
            </a:r>
          </a:p>
        </p:txBody>
      </p:sp>
      <p:sp>
        <p:nvSpPr>
          <p:cNvPr id="40" name="AutoShape 36">
            <a:extLst>
              <a:ext uri="{FF2B5EF4-FFF2-40B4-BE49-F238E27FC236}">
                <a16:creationId xmlns:a16="http://schemas.microsoft.com/office/drawing/2014/main" id="{31B3D879-4850-9FDF-60B3-E2A184712956}"/>
              </a:ext>
            </a:extLst>
          </p:cNvPr>
          <p:cNvSpPr/>
          <p:nvPr/>
        </p:nvSpPr>
        <p:spPr>
          <a:xfrm>
            <a:off x="8222932" y="8877300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7218FE36-5549-4B6B-0A30-FE5B13C89AAC}"/>
              </a:ext>
            </a:extLst>
          </p:cNvPr>
          <p:cNvSpPr txBox="1"/>
          <p:nvPr/>
        </p:nvSpPr>
        <p:spPr>
          <a:xfrm>
            <a:off x="8305800" y="8953500"/>
            <a:ext cx="398882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08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3F68A499-B5B5-3810-6992-AAE876A0DB29}"/>
              </a:ext>
            </a:extLst>
          </p:cNvPr>
          <p:cNvSpPr txBox="1"/>
          <p:nvPr/>
        </p:nvSpPr>
        <p:spPr>
          <a:xfrm>
            <a:off x="9149604" y="9015740"/>
            <a:ext cx="8147795" cy="531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Outlook &amp; Recommendations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4935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1: The Evolving Threat Landscape</a:t>
            </a:r>
          </a:p>
          <a:p>
            <a:pPr algn="ctr">
              <a:lnSpc>
                <a:spcPts val="9799"/>
              </a:lnSpc>
            </a:pPr>
            <a:endParaRPr lang="en-US" sz="6999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ctr">
              <a:lnSpc>
                <a:spcPts val="9799"/>
              </a:lnSpc>
            </a:pPr>
            <a:endParaRPr lang="en-US" sz="6999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236622"/>
            <a:ext cx="145161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the Threat Landscape is Evolving with AI: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5905500" cy="839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1: The Evolving Threat Landscape</a:t>
            </a:r>
          </a:p>
          <a:p>
            <a:pPr algn="ctr">
              <a:lnSpc>
                <a:spcPts val="3359"/>
              </a:lnSpc>
            </a:pP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61C1B2F-3B86-22E7-47FB-D3AD34A89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342832"/>
              </p:ext>
            </p:extLst>
          </p:nvPr>
        </p:nvGraphicFramePr>
        <p:xfrm>
          <a:off x="1011447" y="2454176"/>
          <a:ext cx="16201739" cy="6200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01739">
                  <a:extLst>
                    <a:ext uri="{9D8B030D-6E8A-4147-A177-3AD203B41FA5}">
                      <a16:colId xmlns:a16="http://schemas.microsoft.com/office/drawing/2014/main" val="2124543028"/>
                    </a:ext>
                  </a:extLst>
                </a:gridCol>
              </a:tblGrid>
              <a:tr h="896426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3600" b="0" dirty="0">
                          <a:solidFill>
                            <a:srgbClr val="000000"/>
                          </a:solidFill>
                          <a:latin typeface="Outfit"/>
                          <a:sym typeface="Outfit"/>
                        </a:rPr>
                        <a:t>Fraud &amp; Scams: </a:t>
                      </a:r>
                      <a:r>
                        <a:rPr lang="en-US" sz="3600" dirty="0">
                          <a:solidFill>
                            <a:srgbClr val="000000"/>
                          </a:solidFill>
                          <a:latin typeface="Outfit"/>
                          <a:sym typeface="Outfit"/>
                        </a:rPr>
                        <a:t>AI videos of celebrities or attractive people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05262"/>
                  </a:ext>
                </a:extLst>
              </a:tr>
              <a:tr h="896426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Outfit"/>
                          <a:sym typeface="Outfit"/>
                        </a:rPr>
                        <a:t>Verification Bypasses: KYC controls relying on videos/images</a:t>
                      </a:r>
                      <a:endParaRPr lang="en-US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708338"/>
                  </a:ext>
                </a:extLst>
              </a:tr>
              <a:tr h="896426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Outfit"/>
                          <a:sym typeface="Outfit"/>
                        </a:rPr>
                        <a:t>Fake Interviews: AI videos, fake resumes &amp; websites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001630"/>
                  </a:ext>
                </a:extLst>
              </a:tr>
              <a:tr h="896426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Outfit"/>
                          <a:sym typeface="Outfit"/>
                        </a:rPr>
                        <a:t>AI Jailbreaking: Using frontier models for fraud &amp; cybercrime</a:t>
                      </a:r>
                      <a:endParaRPr lang="en-US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149905"/>
                  </a:ext>
                </a:extLst>
              </a:tr>
              <a:tr h="896426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Outfit"/>
                          <a:sym typeface="Outfit"/>
                        </a:rPr>
                        <a:t>Automating Cyberattacks: Script generation, tool &amp; infra creation</a:t>
                      </a:r>
                      <a:endParaRPr lang="en-US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613740"/>
                  </a:ext>
                </a:extLst>
              </a:tr>
              <a:tr h="896426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Outfit"/>
                          <a:sym typeface="Outfit"/>
                        </a:rPr>
                        <a:t>Improving Extortion: Mass data analysis for most sensitive info</a:t>
                      </a:r>
                      <a:endParaRPr lang="en-US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3296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E1CD8-B68E-B630-A1CF-BB840B70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BDDDD5-0C71-AE53-099E-2BE88875AD3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C841885-66F7-2F45-E3D5-5DA68813B06C}"/>
              </a:ext>
            </a:extLst>
          </p:cNvPr>
          <p:cNvSpPr txBox="1"/>
          <p:nvPr/>
        </p:nvSpPr>
        <p:spPr>
          <a:xfrm>
            <a:off x="1028700" y="4479925"/>
            <a:ext cx="10858500" cy="4935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2: Team Cymru’s Role</a:t>
            </a:r>
          </a:p>
          <a:p>
            <a:pPr algn="ctr">
              <a:lnSpc>
                <a:spcPts val="9799"/>
              </a:lnSpc>
            </a:pPr>
            <a:endParaRPr lang="en-US" sz="6999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ctr">
              <a:lnSpc>
                <a:spcPts val="9799"/>
              </a:lnSpc>
            </a:pPr>
            <a:endParaRPr lang="en-US" sz="6999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D2033C6-8AF1-1B29-DE57-E07A0FF5C77E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C8B8333-D201-4DAF-87C3-3712BCB58B63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E90C3-87F2-076F-AC4A-5CDFC16D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0EDBEF4-E49D-99DE-EAB4-051A7C04B939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81F6F98-0891-63CA-06B9-D868E9FAEB79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0500AF4-EF1F-E2F6-78A5-D4D916F8801D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9780B29-3ACF-1292-D4B4-51DB5838C039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154AD11-FE00-53F9-C839-4EFB2F017417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54740EC-FDA5-D973-0A49-4FEB6F6F9EC4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C99365C-E9C8-C978-84BC-1F7F2795057D}"/>
              </a:ext>
            </a:extLst>
          </p:cNvPr>
          <p:cNvSpPr txBox="1"/>
          <p:nvPr/>
        </p:nvSpPr>
        <p:spPr>
          <a:xfrm>
            <a:off x="1028700" y="1236622"/>
            <a:ext cx="4457700" cy="3525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The World’s Largest IP Intelligence </a:t>
            </a:r>
          </a:p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Data Ocean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60AF2F7-143D-AA46-943A-5BAFE845811F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81B288E-A584-38C1-D86C-C37A2329C7D7}"/>
              </a:ext>
            </a:extLst>
          </p:cNvPr>
          <p:cNvSpPr txBox="1"/>
          <p:nvPr/>
        </p:nvSpPr>
        <p:spPr>
          <a:xfrm>
            <a:off x="1028700" y="441961"/>
            <a:ext cx="426085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2: Team Cymru’s Role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B4CE377-0483-ADD2-F638-53A7EBEF3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175" y="1198747"/>
            <a:ext cx="11049000" cy="501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A559D972-B324-2574-CF52-DD23312AC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5329279"/>
            <a:ext cx="2692400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F6E912BC-3C27-9F9E-CCF9-0211EF737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7886700"/>
            <a:ext cx="3937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C43FE9-63BC-7602-1DBE-A3B775E49B64}"/>
              </a:ext>
            </a:extLst>
          </p:cNvPr>
          <p:cNvSpPr txBox="1"/>
          <p:nvPr/>
        </p:nvSpPr>
        <p:spPr>
          <a:xfrm>
            <a:off x="6213175" y="6617930"/>
            <a:ext cx="11014388" cy="2106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Team Cymru has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Outfit"/>
                <a:sym typeface="Outfit"/>
              </a:rPr>
              <a:t>unmatched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visibility of Internet telemetry across the globe, made possible from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Outfit"/>
                <a:sym typeface="Outfit"/>
              </a:rPr>
              <a:t>25+ years 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of building trust across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Outfit"/>
                <a:sym typeface="Outfit"/>
              </a:rPr>
              <a:t>800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data sharing partnerships and our Community.</a:t>
            </a:r>
          </a:p>
        </p:txBody>
      </p:sp>
    </p:spTree>
    <p:extLst>
      <p:ext uri="{BB962C8B-B14F-4D97-AF65-F5344CB8AC3E}">
        <p14:creationId xmlns:p14="http://schemas.microsoft.com/office/powerpoint/2010/main" val="386454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6A49-FB9F-C68F-2A20-1E734A25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0E55A9-69C4-EB57-8F22-E4C126AE077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23B715E-2040-9C49-5F10-5E752F6C71BD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3: Introduction to CyberStrikeAI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A742CCA-22FB-D608-3C19-87DFCA474460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3C6C64C-A93A-33E3-FFF4-AF7B82A5CC9B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BF62-623A-19BA-587E-5139B50D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788D1FA-7FE4-BEC6-A787-74381CCED5B7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E452675-A4C0-FE81-1C69-42FB5BB31EF4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5EDF11E-A368-A6D2-F911-924E5B3C231C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88B2E14-24DC-665C-A216-B65A052A4724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118D4BB-8F36-24E1-EE8B-2206AE7BA491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88AA17-4F11-9585-E199-5414A6564FB4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3F549A92-0377-3548-625F-F86C49C635E2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049691E-C882-CB04-7721-016311DF5E28}"/>
              </a:ext>
            </a:extLst>
          </p:cNvPr>
          <p:cNvSpPr txBox="1"/>
          <p:nvPr/>
        </p:nvSpPr>
        <p:spPr>
          <a:xfrm>
            <a:off x="1028700" y="441961"/>
            <a:ext cx="54483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3: Introduction to CyberStrikeAI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99257D-1457-8CCC-7F65-0D45EA3E72D3}"/>
              </a:ext>
            </a:extLst>
          </p:cNvPr>
          <p:cNvSpPr txBox="1"/>
          <p:nvPr/>
        </p:nvSpPr>
        <p:spPr>
          <a:xfrm>
            <a:off x="1028700" y="1335175"/>
            <a:ext cx="8724900" cy="785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What is CyberStrikeAI?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Outfit"/>
                <a:sym typeface="Outfit"/>
              </a:rPr>
              <a:t>A</a:t>
            </a:r>
            <a:r>
              <a:rPr lang="en-US" sz="300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n AI-native security testing platform built in Go.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It integrates 100+ security tools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Outfit"/>
                <a:sym typeface="Outfit"/>
              </a:rPr>
              <a:t>It has</a:t>
            </a:r>
            <a:r>
              <a:rPr lang="en-US" sz="300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an intelligent orchestration engine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Outfit"/>
                <a:sym typeface="Outfit"/>
              </a:rPr>
              <a:t>It can do </a:t>
            </a:r>
            <a:r>
              <a:rPr lang="en-US" sz="300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role-based testing with predefined security roles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Outfit"/>
                <a:sym typeface="Outfit"/>
              </a:rPr>
              <a:t>It has </a:t>
            </a:r>
            <a:r>
              <a:rPr lang="en-US" sz="300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a skills system with specialized testing skills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Outfit"/>
                <a:sym typeface="Outfit"/>
              </a:rPr>
              <a:t>It also</a:t>
            </a:r>
            <a:r>
              <a:rPr lang="en-US" sz="300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comprehensive lifecycle management capabilities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36EF553-2F09-474F-543D-0594818E5E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33"/>
          <a:stretch>
            <a:fillRect/>
          </a:stretch>
        </p:blipFill>
        <p:spPr bwMode="auto">
          <a:xfrm>
            <a:off x="9991438" y="1335175"/>
            <a:ext cx="7239000" cy="732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537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D542-CF60-F863-F80C-B6ACB891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E08147-8C58-B2B5-C25D-1089F1A5137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577BAF9-A804-5FE3-9E01-0A2B820EB7D9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4: The Developer’s State Affiliation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0B7BE97-4162-C40C-E2BF-0DA8500EACBE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4CB4042-5689-F9A1-EC0E-CBF646B705AE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4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E2BB-BE7D-B117-260B-DFD73EC3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D047793-673D-B298-E6F6-5D16E1389016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B539147-A0B3-7F4B-8AC3-C633FEAB72EE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67E6F76-472A-60E8-1AA0-F5A22747ECA3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DBE271-86D0-C870-4E51-46A2CF1DE7E9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4E8EFDC-3BDF-542E-E0B3-FCE7D574C98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74C5C5-20F7-6E05-22DC-DD809B4122C0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BEE19FE-C890-779F-BC9E-C019826D7889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2FE47F2-689B-A3C0-677F-E3C5C4DD7F7C}"/>
              </a:ext>
            </a:extLst>
          </p:cNvPr>
          <p:cNvSpPr txBox="1"/>
          <p:nvPr/>
        </p:nvSpPr>
        <p:spPr>
          <a:xfrm>
            <a:off x="1028700" y="441961"/>
            <a:ext cx="5905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4: The Developer’s State Affiliation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06C5E4-1EDE-6869-F7EE-98BDFE6E63D3}"/>
              </a:ext>
            </a:extLst>
          </p:cNvPr>
          <p:cNvSpPr txBox="1"/>
          <p:nvPr/>
        </p:nvSpPr>
        <p:spPr>
          <a:xfrm>
            <a:off x="969806" y="1562100"/>
            <a:ext cx="16289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 err="1">
                <a:solidFill>
                  <a:srgbClr val="000000"/>
                </a:solidFill>
                <a:effectLst/>
                <a:latin typeface="Outfit"/>
                <a:sym typeface="Outfit"/>
              </a:rPr>
              <a:t>CyberStrikeAI’s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developer: “Ed1s0nZ”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80CA39-862B-0A84-317E-AF83EBC3C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519489"/>
            <a:ext cx="12794498" cy="65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09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4DAB-F901-10E5-309C-9955A893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B96B714-77E7-7CB2-D628-363610CB6C63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D1E88E0-934E-239F-C563-0C64E612F345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A37F68D-B113-F5EF-9670-FE1B80EEFE7A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58B6C4E-3267-4B50-63D5-788E2EE3A94E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5F8883C-C07C-1394-A604-36358BC173A2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368ACF2-9E39-A5A8-DDEC-B4331C30C24A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11718C6-505B-6985-B0D9-C8D7893C97A0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0DCDF66-D98A-1581-C2BE-6CA92DDAF5D5}"/>
              </a:ext>
            </a:extLst>
          </p:cNvPr>
          <p:cNvSpPr txBox="1"/>
          <p:nvPr/>
        </p:nvSpPr>
        <p:spPr>
          <a:xfrm>
            <a:off x="1028700" y="441961"/>
            <a:ext cx="5905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4: The Developer’s State Affiliation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B2941-078B-9733-F6CB-468E793E82FD}"/>
              </a:ext>
            </a:extLst>
          </p:cNvPr>
          <p:cNvSpPr txBox="1"/>
          <p:nvPr/>
        </p:nvSpPr>
        <p:spPr>
          <a:xfrm>
            <a:off x="969806" y="1212187"/>
            <a:ext cx="8939496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Ed1s0nZ’s GitHub activities indicate they interact with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Outfit"/>
                <a:sym typeface="Outfit"/>
              </a:rPr>
              <a:t>organisations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that support potentially Chinese government state-sponsored cyber operations. 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28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This includes Chinese private sector firms that have known ties to the Chinese Ministry of State Security (MSS).</a:t>
            </a:r>
          </a:p>
          <a:p>
            <a:endParaRPr lang="en-US" sz="28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A number of GitHub activities potentially link Ed1s0nZ to the Chinese state-sponsored cyber operations.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On 19 December 2025, Ed1s0nZ posted CyberStrikeAI to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Outfit"/>
                <a:sym typeface="Outfit"/>
              </a:rPr>
              <a:t>Knownsec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404’s Starlink Project.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Based on published reporting by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Outfit"/>
                <a:sym typeface="Outfit"/>
              </a:rPr>
              <a:t>DomainTools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and others,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Outfit"/>
                <a:sym typeface="Outfit"/>
              </a:rPr>
              <a:t>Knownsec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does work for the MSS and the Chinese People’s Liberation Army (PLA).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12B3E74-03D2-BCBA-05E7-2D309E7BF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6736" y="979209"/>
            <a:ext cx="5933348" cy="827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692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73CA-36FD-D3C0-C454-E3C9E5F8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FED191F-9C17-4634-0ABD-84C645A999E9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5B1CFE-9A76-4212-1341-84ADCE44C904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E216D69-B515-5BC0-EABF-0C3A59D00386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7D8650-0FE2-B3BE-0885-9CA3B8DB20E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CFF4C86-0CEB-CBE1-DA1B-2AB2D2724F02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9DF3AA4-093B-169E-AB7C-F3670C40AF31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B334A3E-9263-C717-8AA0-FE312F63F44C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7A693ED-B5CA-4DFF-F4FE-6777FBD8A483}"/>
              </a:ext>
            </a:extLst>
          </p:cNvPr>
          <p:cNvSpPr txBox="1"/>
          <p:nvPr/>
        </p:nvSpPr>
        <p:spPr>
          <a:xfrm>
            <a:off x="1028700" y="441961"/>
            <a:ext cx="5905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4: The Developer’s State Affiliation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BCF692-3593-17BD-F9F2-87CA2E06FB14}"/>
              </a:ext>
            </a:extLst>
          </p:cNvPr>
          <p:cNvSpPr txBox="1"/>
          <p:nvPr/>
        </p:nvSpPr>
        <p:spPr>
          <a:xfrm>
            <a:off x="969806" y="1212187"/>
            <a:ext cx="1628949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sym typeface="Outfit"/>
              </a:rPr>
              <a:t>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n 5 January 2026, Ed1s0nZ added to their GitHub profile “CNNVD（</a:t>
            </a:r>
            <a:r>
              <a:rPr lang="ja-JP" altLang="en-US" sz="2800" b="0" i="0">
                <a:solidFill>
                  <a:srgbClr val="000000"/>
                </a:solidFill>
                <a:effectLst/>
                <a:latin typeface="Outfit"/>
                <a:sym typeface="Outfit"/>
              </a:rPr>
              <a:t>国家信息安全漏洞） </a:t>
            </a:r>
            <a:r>
              <a:rPr lang="en-US" altLang="ja-JP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2024 </a:t>
            </a:r>
            <a:r>
              <a:rPr lang="ja-JP" altLang="en-US" sz="2800" b="0" i="0">
                <a:solidFill>
                  <a:srgbClr val="000000"/>
                </a:solidFill>
                <a:effectLst/>
                <a:latin typeface="Outfit"/>
                <a:sym typeface="Outfit"/>
              </a:rPr>
              <a:t>年度漏洞奖励计划 </a:t>
            </a:r>
            <a:r>
              <a:rPr lang="en-US" altLang="ja-JP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· </a:t>
            </a:r>
            <a:r>
              <a:rPr lang="ja-JP" altLang="en-US" sz="2800" b="0" i="0">
                <a:solidFill>
                  <a:srgbClr val="000000"/>
                </a:solidFill>
                <a:effectLst/>
                <a:latin typeface="Outfit"/>
                <a:sym typeface="Outfit"/>
              </a:rPr>
              <a:t>二级贡献奖（个人</a:t>
            </a:r>
            <a:r>
              <a:rPr lang="en-US" altLang="ja-JP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).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Translation: CNNVD (Chinese National Vulnerability Database) 2024 Vulnerability Reward Program - Level 2 Contribution Award (Individual).” 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28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The CNNVD is run by CNITSEC and is also overseen by the MSS. 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28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Arguably, this program exists as a vehicle for the CCP to collect zero days before they are publicly disclosed, as detailed by researchers at BitSight.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28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Interestingly, we noticed Ed1s0nZ removed the reference to the CNNVD from their GitHub profile, potentially in effort to cover up these ties to one of these MSS-affiliated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Outfit"/>
                <a:sym typeface="Outfit"/>
              </a:rPr>
              <a:t>organisations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.</a:t>
            </a:r>
          </a:p>
        </p:txBody>
      </p:sp>
      <p:pic>
        <p:nvPicPr>
          <p:cNvPr id="6146" name="Picture 2" descr="Figure 1 Logins for CNNVD and CNVD">
            <a:extLst>
              <a:ext uri="{FF2B5EF4-FFF2-40B4-BE49-F238E27FC236}">
                <a16:creationId xmlns:a16="http://schemas.microsoft.com/office/drawing/2014/main" id="{84DD7CC0-5D09-3760-FAE0-D254BD613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6003206"/>
            <a:ext cx="8974314" cy="331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004C2BA-A30B-1617-5F83-AA4784345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5551" y="6227765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25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7579-8DFC-3F1A-7CDB-21465301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D5E280-C5EA-755A-8EC3-AFCD7E5013E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59BB28E-59CE-9384-43D6-4FA1D3D42067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5: Global Tracking and Infrastructure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6A82B76-C055-C169-E2F0-D0C6A50CE914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5709F06-2393-AE8B-9711-FAF798DC1C3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339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9E08B-CDC4-DBA5-86E5-BE18C903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F12DBB7-E622-21E2-A7B5-82E9EB94294A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7420B67-D701-CCFE-032A-1E3120588FFB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F3EE151-A65F-17B3-CF8C-68CF8F1D7E45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49B70D-D016-2361-8065-6D2BC23C6A1C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59AF74D-0125-28F1-C0A1-B4B978CA2B82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096333C-116E-74B4-8241-7E3287364F7C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2282B844-0A88-60B7-AE0E-3A4C8E1E1472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BE1147-6AF9-8453-37EE-B9D7E38FFBAB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5: Global Tracking and Infrastructure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EA94F9-B691-9504-9FB6-8A7D4FA69569}"/>
              </a:ext>
            </a:extLst>
          </p:cNvPr>
          <p:cNvSpPr txBox="1"/>
          <p:nvPr/>
        </p:nvSpPr>
        <p:spPr>
          <a:xfrm>
            <a:off x="969806" y="1562100"/>
            <a:ext cx="162894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CyberStrikeAI was first brought to our attention following the Amazon CTI team’s blog about AI-augmented threat actor infrastructure they had discovered. Amazon shared this related IP 212.11.64[.]250.</a:t>
            </a:r>
          </a:p>
          <a:p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Analysis of that IP address in Team Cymru Scout’s open port scan data revealed that it had this “CyberStrikeAI” banner running on this service.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C6239D2-A3F9-6C1E-E3A7-ED776B4F7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35"/>
          <a:stretch>
            <a:fillRect/>
          </a:stretch>
        </p:blipFill>
        <p:spPr bwMode="auto">
          <a:xfrm>
            <a:off x="3469373" y="4849470"/>
            <a:ext cx="10972800" cy="430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1D76C1-9B9F-F950-75A5-60AC20D4E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3600" y="4921845"/>
            <a:ext cx="777931" cy="67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13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3D0F1-8DDC-33AC-FA7C-82E3E048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893CE60-6A20-D455-EC69-0B12E6971FD0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54DF1AA-94C8-AFD9-C007-01E658EDDA4D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98B258B-06AC-88A5-4A7D-056104A9215E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09BEDA-8ED9-30B5-DD7A-4983378D7954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8FC9768-B8E9-FECC-0A10-C39C4FFC5F98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8CB67A2-268B-F34D-31D3-9B697BB0751F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11333F4-8E14-3E64-A690-67739F0464BB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0DD8F9D-EA63-4C91-62F2-A345C14E428E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5: Global Tracking and Infrastructure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35C91-BA7D-D71D-00F0-340E5856518F}"/>
              </a:ext>
            </a:extLst>
          </p:cNvPr>
          <p:cNvSpPr txBox="1"/>
          <p:nvPr/>
        </p:nvSpPr>
        <p:spPr>
          <a:xfrm>
            <a:off x="969806" y="1562100"/>
            <a:ext cx="5735794" cy="753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Discovery: Tool first surfaced in late 2025; initial identification followed Amazon CTI team reports of AI-augmented infrastructure.</a:t>
            </a:r>
          </a:p>
          <a:p>
            <a:endParaRPr lang="en-US" sz="28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Deployment Trends: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Rapid growth: 21 unique IP addresses identified between Jan 20 and Feb 26, 2026.</a:t>
            </a:r>
          </a:p>
          <a:p>
            <a:endParaRPr lang="en-US" sz="28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Geographical Distribution: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Primary hosting locations: China, Singapore, and Hong Kong.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Hosting providers: Notable cloud usage of Tencent, Huawei, Alibaba, and others.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B9CF029-E05B-721E-9B03-F2E44A75A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889112"/>
            <a:ext cx="10966450" cy="669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72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CC21-6A28-D083-D52D-63033026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658A6F-853E-9FEA-1B08-55417AF5421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3C2F9D2-0409-A077-B2E0-5CBB51D31ADA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6: CyberStrikeAI NetFlow Analysis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B25FD91-046F-1CDC-8DA2-A9BE2D35155F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2F3CAC0-E92D-754A-AE8E-4863D3B96CA3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410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0F1A-3DB5-1016-299C-555C7DBA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76434C1-5C1E-F940-5F0F-0AE1A868C141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1FBBC30-F3A9-4060-471E-BCD190376E17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4D858B3-276D-CC81-53FE-035E75510A8D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A7A0887-829C-FBE6-B920-54D790B0D762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18FB8D-0A56-915E-95C8-C25C2E28C0C3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29EBC94-628D-A8D7-8640-F1EE5AEFE0DF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BC7AEE43-AC15-FA28-52C5-35383311EC9C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356A385-A50D-E802-0D56-55DB4F393F51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6: CyberStrikeAI NetFlow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53A722-1359-CFFE-32F0-AF0B432C227C}"/>
              </a:ext>
            </a:extLst>
          </p:cNvPr>
          <p:cNvSpPr txBox="1"/>
          <p:nvPr/>
        </p:nvSpPr>
        <p:spPr>
          <a:xfrm>
            <a:off x="969806" y="1562100"/>
            <a:ext cx="162894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Using Team Cymru Scout, we can find NetFlow communications between the IP shared by Amazon and its targets, such as the Fortinet FortiGate devices it was observed targeting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6BC09D-B454-8A85-538B-EF24678F1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10" y="3018106"/>
            <a:ext cx="16848580" cy="44371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4313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35B0-A776-201B-B039-E82C0040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F24ECF-5E4F-D66E-3A50-783339A91A5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277D93C-B691-4120-27EF-D269701A48D5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7: The Broader AI Toolset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58D0DF6-3169-4242-27B4-6FB38E7512BA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45F531B-A707-3F4C-C9F9-C7F3D0636EB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51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07B05-4D10-3DB4-A81B-97AC9E06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012FCF0-3417-AB43-AF4D-C104CB800C62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8072D6B-A531-4342-D9A1-92E97047EF91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367A2A9-E641-D7E5-CC55-0F5AE55CF548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A9CEE6-9981-1FD5-A31A-F5A2CE39E607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7DF8323-BE52-CC0F-5F57-A068FC9F4D6E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1B46452-EF9D-6CDE-0C92-5748B7FB9F90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42D25772-3774-6556-66A0-04D9C7CDDE1D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27C563-E312-4408-08DC-385FA5017B88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7: The Broader AI Toolset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71AB8-2F3C-9523-26F5-A6C727F5ED04}"/>
              </a:ext>
            </a:extLst>
          </p:cNvPr>
          <p:cNvSpPr txBox="1"/>
          <p:nvPr/>
        </p:nvSpPr>
        <p:spPr>
          <a:xfrm>
            <a:off x="969806" y="1562100"/>
            <a:ext cx="7945594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Ed1s0nZ’s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watermark-tool: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A steganography solution for invisible document watermarking, potentially used for anti-data exfiltration security or tracking.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Developed in Go, it supports both web and CLI usage.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The watermark tool uses steganography technology to ensure that the watermark is completely invisible and does not affect the reading experience and visual effects of the original document.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C55D2-FDC0-69F8-0CFD-076BFC476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797" y="1264980"/>
            <a:ext cx="8736904" cy="601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17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315F-44CD-4270-0203-C092FB72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9410437-D961-5A0D-783E-163DDE096E9B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836AD46-D2C7-FA79-F31B-EC3F82E8589F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8E1CB8C-FA99-24BC-E191-0AC13D049815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2919BC-5C39-AE16-61B6-B8749700C64A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67F98C6-8A5F-FEFC-19EF-654975EE62A7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B11DC9-7452-0D58-AACF-C2261735DD08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33F3936-F532-8106-1625-2EE5208DBAE2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C4BADCA-16EC-A0D3-59C2-C6F14AEFA62B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7: The Broader AI Toolset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5F2E8-5C59-1569-F252-93363BA39499}"/>
              </a:ext>
            </a:extLst>
          </p:cNvPr>
          <p:cNvSpPr txBox="1"/>
          <p:nvPr/>
        </p:nvSpPr>
        <p:spPr>
          <a:xfrm>
            <a:off x="969806" y="1562099"/>
            <a:ext cx="6192994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Ed1s0nZ’s </a:t>
            </a:r>
            <a:r>
              <a:rPr lang="en-US" sz="3200" dirty="0" err="1">
                <a:solidFill>
                  <a:srgbClr val="000000"/>
                </a:solidFill>
                <a:latin typeface="Outfit"/>
                <a:sym typeface="Outfit"/>
              </a:rPr>
              <a:t>PrivHunterAI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: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dirty="0">
              <a:solidFill>
                <a:srgbClr val="000000"/>
              </a:solidFill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This tool uses a passive proxy approach and mainstream AI (such as Kimi, DeepSeek, GPT, etc.) to detect leaked secrets and tokens in vulnerable applications and websites. 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dirty="0">
              <a:solidFill>
                <a:srgbClr val="000000"/>
              </a:solidFill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Its core detection function is built on the open APIs of the relevant AI engines and supports data transmission and interaction via HTTPS protocol.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4CA40C-DF9F-477F-C3B3-4D2C1F905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362" y="2786987"/>
            <a:ext cx="9833201" cy="50291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2394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B549-09F0-AEBC-6632-ECEE9E20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AEC3827-B44B-1A5B-DE67-D26A2C8EC635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6F8944D-C408-D4C8-8437-82758C848797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68A49AB-F52A-0F2F-3A70-46E44E80ACAD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E03FF9D-4B58-B7D4-1C78-5083CC070804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780EB6B-5484-60C0-A6C1-6A901E7BA44D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456949-2386-07BA-DD4E-DB69E307046F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38E8071-C135-9D46-5F07-6F78C6860D0D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C05174-DCDF-9833-43FE-E0925FB9A6DB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7: The Broader AI Toolset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26730F-35AF-4A5F-2216-5B3025F1FD5D}"/>
              </a:ext>
            </a:extLst>
          </p:cNvPr>
          <p:cNvSpPr txBox="1"/>
          <p:nvPr/>
        </p:nvSpPr>
        <p:spPr>
          <a:xfrm>
            <a:off x="969806" y="1562100"/>
            <a:ext cx="8936194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Ed1s0nZ’s </a:t>
            </a:r>
            <a:r>
              <a:rPr lang="en-US" sz="3200" dirty="0" err="1">
                <a:solidFill>
                  <a:srgbClr val="000000"/>
                </a:solidFill>
                <a:latin typeface="Outfit"/>
                <a:sym typeface="Outfit"/>
              </a:rPr>
              <a:t>InfiltrateX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An automated privilege escalation scanning tool.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dirty="0">
              <a:solidFill>
                <a:srgbClr val="000000"/>
              </a:solidFill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Could be used to gain admin access on target systems once initial access has been established.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dirty="0">
              <a:solidFill>
                <a:srgbClr val="000000"/>
              </a:solidFill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Could be paired with CyberStrikeAI to escalate privileges and then move laterally inside the target environment.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dirty="0">
              <a:solidFill>
                <a:srgbClr val="000000"/>
              </a:solidFill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Could be combined with newly released Proof-of-Concept Exploits that many orgs failed to patch in 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DA1E61-8341-6F26-39F4-C8762251C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1409699"/>
            <a:ext cx="6883400" cy="76160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4224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03CB-9531-BE72-4FFD-8D231F9E8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00A402-5055-D8D5-EFE7-8492F96803F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AB9314D-819A-679F-8758-7A50913579CD}"/>
              </a:ext>
            </a:extLst>
          </p:cNvPr>
          <p:cNvSpPr txBox="1"/>
          <p:nvPr/>
        </p:nvSpPr>
        <p:spPr>
          <a:xfrm>
            <a:off x="1028700" y="4479925"/>
            <a:ext cx="10858500" cy="2421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8: Outlook &amp; Recommendations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7BD2A60-AA65-E42A-47C3-64655102A23B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26283FA-3847-C21D-1CE7-0E238FD1169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84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0DA6-54EB-57EB-BDFE-D159B591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19FF759-016D-44E8-5633-02C3D85578EA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20051A4-6961-5BD8-B1B3-900B2145360A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BD34BF9-94E2-FB5C-7678-FBD9D3DE236D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1A53847-030A-F911-BA15-BA97ECD56F91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A14502B-9E7A-BB0B-00CA-D86FA4EF60B1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1FC3993-0F71-ED6F-6AD3-0BA9A146D5C8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DC31EE2-1887-5089-BE09-8EF33CBC2C3B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5FE0F7F-D20A-CF22-1444-52486D38706E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8: Outlook &amp; Recommendations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199C44-373A-8091-1033-07BC089F5EE2}"/>
              </a:ext>
            </a:extLst>
          </p:cNvPr>
          <p:cNvSpPr txBox="1"/>
          <p:nvPr/>
        </p:nvSpPr>
        <p:spPr>
          <a:xfrm>
            <a:off x="969806" y="1562100"/>
            <a:ext cx="1628949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Consider the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AI Shadow Pipeline…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Chinese firms like DeepSeek use Distillation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 attacks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to train their models.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They prompt US frontier models (like OpenAI’s GPT-4) millions of times and record the logic.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Unlike US models behind paywalls, these models are often released as Open-Weights.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Then, anyone can download the entire brain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 of a model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and run it on their own servers, outside of any oversight or regulation.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Finally, this leads to high-intelligence models with zero guardrails that can be used for automated attacks, exploit or malware generation, and infrastructure creation.</a:t>
            </a: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651098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1A50-2943-1A81-4B05-F2839744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517617D-A44C-DEE7-C421-FD1A71D0C67F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181D720-F134-11F5-6541-CB5961985074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A1319E0-81D4-E7EC-D9CB-B5DDFE3EBA65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046E75-F805-5609-166E-A5E2AC2E1547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138987-3EAE-6964-D06E-1E8A6A19CC45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0C1199C-85C0-9B79-BEF3-65661B78473C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00660EB-2D2B-D32A-FD56-BD9355240817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DF23B5D-D613-9EE0-517F-95A06EEBBA7E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8: Outlook &amp; Recommendations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91E5A0-1A4C-F042-CB57-76CDB3CECCC3}"/>
              </a:ext>
            </a:extLst>
          </p:cNvPr>
          <p:cNvSpPr txBox="1"/>
          <p:nvPr/>
        </p:nvSpPr>
        <p:spPr>
          <a:xfrm>
            <a:off x="969806" y="1562100"/>
            <a:ext cx="1628949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Consider the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ICS attack on Poland’s electrical grid…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Adversaries are using AI to scan and target internet-exposed ICS components (VPNs, routers, and industrial controllers) at an unprecedented scale.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</a:b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Adversaries are aggressively targeting edge devices, such as </a:t>
            </a:r>
            <a:r>
              <a:rPr lang="en-US" sz="3200" dirty="0">
                <a:solidFill>
                  <a:srgbClr val="FF0000"/>
                </a:solidFill>
                <a:latin typeface="Outfit"/>
                <a:sym typeface="Outfit"/>
              </a:rPr>
              <a:t>Fortinet FortiGate 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firewalls, which serve as the primary gateway to critical infrastructure.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dirty="0">
              <a:solidFill>
                <a:srgbClr val="000000"/>
              </a:solidFill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In December 2025, the Russian FSB-linked group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Outfit"/>
                <a:sym typeface="Outfit"/>
              </a:rPr>
              <a:t>Dragonfly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 breached Poland’s energy infrastructure by targeting exposed FortiGate VPNs that lacked MFA and rotated credentials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.</a:t>
            </a:r>
            <a:b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</a:br>
            <a:endParaRPr lang="en-US" sz="3200" dirty="0">
              <a:solidFill>
                <a:srgbClr val="000000"/>
              </a:solidFill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As we saw in the NetFlow analysis, CyberStrikeAI was also observed automating the reconnaissance of those same type of FortiGate devices.</a:t>
            </a: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2428073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6249C-EBF5-75D5-7E2E-2535A928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196442F-9D89-D5BF-FF8A-66A49D70A5B1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40935F9-20BE-4AD5-FBD3-AFB192D43940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BB4218F-DDEA-57ED-B2ED-700B8AFD017B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4BAF47-3BFC-2559-1B5E-28DA88C2032D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54B075D-569A-757D-AE4F-B459D1A3D0AF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F9C8346-AA0B-304F-C912-ED86B7F707B8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3CD3535-4787-F750-1F60-15E080E45E70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ED31D01-547B-6D4C-E467-9F6E0E8A7F56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8: Outlook &amp; Recommendations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E692D1-5E9E-E480-CC75-A0FC18BCDF3E}"/>
              </a:ext>
            </a:extLst>
          </p:cNvPr>
          <p:cNvSpPr txBox="1"/>
          <p:nvPr/>
        </p:nvSpPr>
        <p:spPr>
          <a:xfrm>
            <a:off x="969806" y="1562100"/>
            <a:ext cx="1628949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My Prediction: Anticipated acceleration in adoption of CyberStrikeAI and similar AI tools among Chinese-speaking threat actors and state-sponsored 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Outfit"/>
                <a:sym typeface="Outfit"/>
              </a:rPr>
              <a:t>APTs.</a:t>
            </a: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Rapid and broad adoption in various areas</a:t>
            </a: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The 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owered Barrier to Entry: How AI-native engines automate exploitation, making sophisticated attacks more accessible to less-skilled actors.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What used to take a whole team, one operator can do alone</a:t>
            </a:r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endParaRPr lang="en-US" sz="3200" b="0" i="0" dirty="0">
              <a:solidFill>
                <a:srgbClr val="000000"/>
              </a:solidFill>
              <a:effectLst/>
              <a:latin typeface="Outfit"/>
              <a:sym typeface="Outfit"/>
            </a:endParaRPr>
          </a:p>
          <a:p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Defense Strategies: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Continuous monitoring of provided IP indicators (IOCs) shared in the blog.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Threat detection programs focused on finding offensive tooling, like CyberStrikeAI.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Preparation for automated, AI-driven targeting of vulnerable edge devices.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The importance of proactive threat hunting and </a:t>
            </a:r>
            <a:r>
              <a:rPr lang="en-US" sz="3200" dirty="0">
                <a:solidFill>
                  <a:srgbClr val="000000"/>
                </a:solidFill>
                <a:latin typeface="Outfit"/>
                <a:sym typeface="Outfit"/>
              </a:rPr>
              <a:t>N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Outfit"/>
                <a:sym typeface="Outfit"/>
              </a:rPr>
              <a:t>etFlow visibility.</a:t>
            </a:r>
          </a:p>
        </p:txBody>
      </p:sp>
    </p:spTree>
    <p:extLst>
      <p:ext uri="{BB962C8B-B14F-4D97-AF65-F5344CB8AC3E}">
        <p14:creationId xmlns:p14="http://schemas.microsoft.com/office/powerpoint/2010/main" val="2421508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8FF1-39F5-05FC-8BDE-CEF52028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28A0D3F-F473-3641-C92D-5ECE169ED40C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E3D9734-6145-45F6-788F-490C558A69FD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37C576-C5E3-CCB8-7502-59DCCD6C1C96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23852D-440A-B65A-8077-2B6CD4908B2C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72F249E-242E-DF09-3E25-7E8B2F3648EE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7C2A3C-FD65-6D17-6C18-1CFA53D626D9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3487FA5-A05B-266E-A4DA-F9D31AB7D2FE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0890400-8D1B-2313-14B6-55985EC459C2}"/>
              </a:ext>
            </a:extLst>
          </p:cNvPr>
          <p:cNvSpPr txBox="1"/>
          <p:nvPr/>
        </p:nvSpPr>
        <p:spPr>
          <a:xfrm>
            <a:off x="1028700" y="441961"/>
            <a:ext cx="65151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Section 8: Outlook &amp; Recommendations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91C4CA-ECD7-9E1F-ED84-A76D8B8E6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25" y="1866900"/>
            <a:ext cx="7270750" cy="686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12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EB2C-72B4-2376-B415-1DBB54E4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50BFE9-031E-CA36-023B-637B07AE69B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7B70BD-A3C3-8A62-3110-7C1BE7A32E3C}"/>
              </a:ext>
            </a:extLst>
          </p:cNvPr>
          <p:cNvSpPr txBox="1"/>
          <p:nvPr/>
        </p:nvSpPr>
        <p:spPr>
          <a:xfrm>
            <a:off x="1028701" y="4479925"/>
            <a:ext cx="4229099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6230806-A285-7401-5018-2F5698374104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FED85B6-C546-8002-E2CC-108F72D2DE81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D1E3B10FD647B2C00F8D5CAE40C5" ma:contentTypeVersion="31" ma:contentTypeDescription="Create a new document." ma:contentTypeScope="" ma:versionID="44f4cb5b8f7c197d958222fdda60fe5b">
  <xsd:schema xmlns:xsd="http://www.w3.org/2001/XMLSchema" xmlns:xs="http://www.w3.org/2001/XMLSchema" xmlns:p="http://schemas.microsoft.com/office/2006/metadata/properties" xmlns:ns2="53292dda-03c3-4977-bff8-bb8e9ba9cad7" xmlns:ns3="c866c9ed-2f7a-4860-bf57-8153ff3a210a" targetNamespace="http://schemas.microsoft.com/office/2006/metadata/properties" ma:root="true" ma:fieldsID="c586b29f675b82886414270cf315a0d1" ns2:_="" ns3:_="">
    <xsd:import namespace="53292dda-03c3-4977-bff8-bb8e9ba9cad7"/>
    <xsd:import namespace="c866c9ed-2f7a-4860-bf57-8153ff3a210a"/>
    <xsd:element name="properties">
      <xsd:complexType>
        <xsd:sequence>
          <xsd:element name="documentManagement">
            <xsd:complexType>
              <xsd:all>
                <xsd:element ref="ns2:PageCount" minOccurs="0"/>
                <xsd:element ref="ns2:AssetStage" minOccurs="0"/>
                <xsd:element ref="ns2:DaysAllocated" minOccurs="0"/>
                <xsd:element ref="ns2:Priority" minOccurs="0"/>
                <xsd:element ref="ns2:Proces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Asset_x0020_Number" minOccurs="0"/>
                <xsd:element ref="ns2:Asset_x0020_Type" minOccurs="0"/>
                <xsd:element ref="ns2:Category" minOccurs="0"/>
                <xsd:element ref="ns2:Early_x0020_Access" minOccurs="0"/>
                <xsd:element ref="ns2:Plagiarism_x0020_Originality" minOccurs="0"/>
                <xsd:element ref="ns2:TR_x0020_Score" minOccurs="0"/>
                <xsd:element ref="ns2:Notes0" minOccurs="0"/>
                <xsd:element ref="ns2:Reviewer" minOccurs="0"/>
                <xsd:element ref="ns2:TR_x0020_Name_x0020_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SafisComment" minOccurs="0"/>
                <xsd:element ref="ns2:MediaLengthInSeconds" minOccurs="0"/>
                <xsd:element ref="ns2:MediaServiceBillingMetadata" minOccurs="0"/>
                <xsd:element ref="ns2:Template" minOccurs="0"/>
                <xsd:element ref="ns2:Draftst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292dda-03c3-4977-bff8-bb8e9ba9cad7" elementFormDefault="qualified">
    <xsd:import namespace="http://schemas.microsoft.com/office/2006/documentManagement/types"/>
    <xsd:import namespace="http://schemas.microsoft.com/office/infopath/2007/PartnerControls"/>
    <xsd:element name="PageCount" ma:index="8" nillable="true" ma:displayName="Page Count" ma:decimals="0" ma:format="Dropdown" ma:internalName="PageCount" ma:percentage="FALSE">
      <xsd:simpleType>
        <xsd:restriction base="dms:Number"/>
      </xsd:simpleType>
    </xsd:element>
    <xsd:element name="AssetStage" ma:index="9" nillable="true" ma:displayName="Asset Stage" ma:format="Dropdown" ma:internalName="AssetStage">
      <xsd:simpleType>
        <xsd:union memberTypes="dms:Text">
          <xsd:simpleType>
            <xsd:restriction base="dms:Choice">
              <xsd:enumeration value="Preliminary Draft In"/>
              <xsd:enumeration value="Placed for Image Check"/>
              <xsd:enumeration value="Regenerate for Image Check"/>
              <xsd:enumeration value="1st Preliminary Draft Revision"/>
              <xsd:enumeration value="1st Revision Submission"/>
              <xsd:enumeration value="2nd Preliminary Draft Revision"/>
              <xsd:enumeration value="2nd Revision Submission"/>
              <xsd:enumeration value="3rd Preliminary Draft Revision"/>
              <xsd:enumeration value="3rd Revision Submission"/>
              <xsd:enumeration value="Preliminary Draft Acceptance"/>
              <xsd:enumeration value="Draft Ready for Review"/>
              <xsd:enumeration value="Technical Review Sent"/>
              <xsd:enumeration value="Technical Review Received"/>
              <xsd:enumeration value="Rewrites Ready"/>
              <xsd:enumeration value="Rewrites Sent"/>
              <xsd:enumeration value="Final Draft Submission"/>
              <xsd:enumeration value="Final Draft Revision"/>
              <xsd:enumeration value="Final Draft Revision Received"/>
              <xsd:enumeration value="Final Draft Acceptance"/>
              <xsd:enumeration value="Technical Editing"/>
              <xsd:enumeration value="Copy Editing Done"/>
              <xsd:enumeration value="Placed for Indexing"/>
              <xsd:enumeration value="Indexed"/>
              <xsd:enumeration value="Placed for Layout Check"/>
              <xsd:enumeration value="Regenerate for Layout Check"/>
              <xsd:enumeration value="Layouts"/>
              <xsd:enumeration value="Proof Read Submission"/>
              <xsd:enumeration value="Proof Reading Done"/>
              <xsd:enumeration value="PR - Checks"/>
              <xsd:enumeration value="Prefinals Ready"/>
              <xsd:enumeration value="Prefinals Sent"/>
              <xsd:enumeration value="Prefinals Received"/>
              <xsd:enumeration value="Final Review"/>
              <xsd:enumeration value="Finals Completed"/>
              <xsd:enumeration value="Ready For Final Checks"/>
              <xsd:enumeration value="​Indexer Finalization"/>
              <xsd:enumeration value="​CE Finalization"/>
              <xsd:enumeration value="​TE Finalization"/>
              <xsd:enumeration value="​Production Designer Finalization"/>
              <xsd:enumeration value="Porfolio Director - Checks"/>
              <xsd:enumeration value="Regenerate Club Book"/>
              <xsd:enumeration value="Ready For Index Finals"/>
              <xsd:enumeration value="Generate Final Files"/>
              <xsd:enumeration value="Ready For Upload"/>
              <xsd:enumeration value="​Upload"/>
              <xsd:enumeration value="​Graphics and Code Bundle Complete"/>
              <xsd:enumeration value="​Post Upload"/>
              <xsd:enumeration value="​Published"/>
              <xsd:enumeration value="Image Redraw"/>
              <xsd:enumeration value="Image Check"/>
            </xsd:restriction>
          </xsd:simpleType>
        </xsd:union>
      </xsd:simpleType>
    </xsd:element>
    <xsd:element name="DaysAllocated" ma:index="10" nillable="true" ma:displayName="Days Allocated" ma:decimals="0" ma:default="1" ma:format="Dropdown" ma:internalName="DaysAllocated" ma:percentage="FALSE">
      <xsd:simpleType>
        <xsd:restriction base="dms:Number"/>
      </xsd:simpleType>
    </xsd:element>
    <xsd:element name="Priority" ma:index="11" nillable="true" ma:displayName="Priority" ma:default="0" ma:internalName="Priority">
      <xsd:simpleType>
        <xsd:restriction base="dms:Boolean"/>
      </xsd:simpleType>
    </xsd:element>
    <xsd:element name="Process" ma:index="12" nillable="true" ma:displayName="Process" ma:default="CE" ma:format="Dropdown" ma:internalName="Process">
      <xsd:simpleType>
        <xsd:restriction base="dms:Choice">
          <xsd:enumeration value="CE"/>
          <xsd:enumeration value="LSE"/>
          <xsd:enumeration value="DCE"/>
          <xsd:enumeration value="WPR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sset_x0020_Number" ma:index="17" nillable="true" ma:displayName="Asset Number" ma:description="This is the asset number of the project and no asset type should have same numbers" ma:format="Dropdown" ma:internalName="Asset_x0020_Number">
      <xsd:simpleType>
        <xsd:union memberTypes="dms:Text">
          <xsd:simpleType>
            <xsd:restriction base="dms:Choice">
              <xsd:enumeration value="1"/>
              <xsd:enumeration value="2"/>
              <xsd:enumeration value="3"/>
              <xsd:enumeration value="4"/>
              <xsd:enumeration value="5"/>
              <xsd:enumeration value="6"/>
              <xsd:enumeration value="7"/>
              <xsd:enumeration value="8"/>
              <xsd:enumeration value="9"/>
              <xsd:enumeration value="10"/>
              <xsd:enumeration value="11"/>
              <xsd:enumeration value="12"/>
              <xsd:enumeration value="13"/>
              <xsd:enumeration value="14"/>
              <xsd:enumeration value="15"/>
              <xsd:enumeration value="16"/>
              <xsd:enumeration value="17"/>
              <xsd:enumeration value="18"/>
              <xsd:enumeration value="19"/>
              <xsd:enumeration value="20"/>
              <xsd:enumeration value="21"/>
              <xsd:enumeration value="22"/>
              <xsd:enumeration value="23"/>
              <xsd:enumeration value="24"/>
              <xsd:enumeration value="25"/>
              <xsd:enumeration value="26"/>
              <xsd:enumeration value="27"/>
              <xsd:enumeration value="28"/>
              <xsd:enumeration value="29"/>
              <xsd:enumeration value="30"/>
              <xsd:enumeration value="31"/>
              <xsd:enumeration value="32"/>
              <xsd:enumeration value="33"/>
              <xsd:enumeration value="34"/>
              <xsd:enumeration value="35"/>
              <xsd:enumeration value="36"/>
              <xsd:enumeration value="37"/>
              <xsd:enumeration value="38"/>
              <xsd:enumeration value="39"/>
              <xsd:enumeration value="40"/>
            </xsd:restriction>
          </xsd:simpleType>
        </xsd:union>
      </xsd:simpleType>
    </xsd:element>
    <xsd:element name="Asset_x0020_Type" ma:index="18" nillable="true" ma:displayName="Asset Type" ma:description="This is the type of Asset related to the product development" ma:format="Dropdown" ma:internalName="Asset_x0020_Type">
      <xsd:simpleType>
        <xsd:restriction base="dms:Choice">
          <xsd:enumeration value="Chapter"/>
          <xsd:enumeration value="Video"/>
          <xsd:enumeration value="Index"/>
          <xsd:enumeration value="Front Matter"/>
          <xsd:enumeration value="Back Matter"/>
          <xsd:enumeration value="Code"/>
          <xsd:enumeration value="Book"/>
          <xsd:enumeration value="Graphic"/>
          <xsd:enumeration value="Other"/>
        </xsd:restriction>
      </xsd:simpleType>
    </xsd:element>
    <xsd:element name="Category" ma:index="19" nillable="true" ma:displayName="Category" ma:format="Dropdown" ma:internalName="Category">
      <xsd:simpleType>
        <xsd:restriction base="dms:Choice">
          <xsd:enumeration value="Cybersecurity"/>
          <xsd:enumeration value="Data Engineering"/>
          <xsd:enumeration value="Data Science"/>
          <xsd:enumeration value="Embedded Systems Development"/>
          <xsd:enumeration value="Game Development"/>
          <xsd:enumeration value="LLM Engineering"/>
          <xsd:enumeration value="Software Engineering and Architecture"/>
          <xsd:enumeration value="Systems Administration and Networking"/>
          <xsd:enumeration value="Tech Powered Pro"/>
          <xsd:enumeration value="Web &amp; Application Development"/>
        </xsd:restriction>
      </xsd:simpleType>
    </xsd:element>
    <xsd:element name="Early_x0020_Access" ma:index="20" nillable="true" ma:displayName="Early Access" ma:default="0" ma:description="This is an option which you select when you want the chapter to be a part of the Early Access" ma:internalName="Early_x0020_Access">
      <xsd:simpleType>
        <xsd:restriction base="dms:Boolean"/>
      </xsd:simpleType>
    </xsd:element>
    <xsd:element name="Plagiarism_x0020_Originality" ma:index="21" nillable="true" ma:displayName="Plagiarism Originality" ma:description="This is a column to fill the plagiarism originality scores" ma:internalName="Plagiarism_x0020_Originality">
      <xsd:simpleType>
        <xsd:restriction base="dms:Number"/>
      </xsd:simpleType>
    </xsd:element>
    <xsd:element name="TR_x0020_Score" ma:index="22" nillable="true" ma:displayName="TR Score" ma:decimals="1" ma:internalName="TR_x0020_Score">
      <xsd:simpleType>
        <xsd:restriction base="dms:Number">
          <xsd:maxInclusive value="10"/>
          <xsd:minInclusive value="1"/>
        </xsd:restriction>
      </xsd:simpleType>
    </xsd:element>
    <xsd:element name="Notes0" ma:index="23" nillable="true" ma:displayName="Notes" ma:internalName="Notes0">
      <xsd:simpleType>
        <xsd:restriction base="dms:Text">
          <xsd:maxLength value="255"/>
        </xsd:restriction>
      </xsd:simpleType>
    </xsd:element>
    <xsd:element name="Reviewer" ma:index="24" nillable="true" ma:displayName="Reviewer" ma:format="Dropdown" ma:internalName="Reviewer">
      <xsd:simpleType>
        <xsd:restriction base="dms:Text">
          <xsd:maxLength value="255"/>
        </xsd:restriction>
      </xsd:simpleType>
    </xsd:element>
    <xsd:element name="TR_x0020_Name_x0020_1" ma:index="25" nillable="true" ma:displayName="TR Name 1" ma:description="&quot;attack&quot; in &quot;Compressor&quot; bullet point&#10;&#10;I am keeping this highlighted so that I can explain what Attack (technical sound term) means in the Glossary." ma:internalName="TR_x0020_Name_x0020_1">
      <xsd:simpleType>
        <xsd:restriction base="dms:Note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33" nillable="true" ma:displayName="Location" ma:description="" ma:indexed="true" ma:internalName="MediaServiceLocation" ma:readOnly="true">
      <xsd:simpleType>
        <xsd:restriction base="dms:Text"/>
      </xsd:simpleType>
    </xsd:element>
    <xsd:element name="SafisComment" ma:index="34" nillable="true" ma:displayName="Safis Comment" ma:format="Dropdown" ma:internalName="SafisComment">
      <xsd:simpleType>
        <xsd:restriction base="dms:Choice">
          <xsd:enumeration value="Same Day TAT"/>
          <xsd:enumeration value="One Day TAT"/>
          <xsd:enumeration value="ReCEing"/>
          <xsd:enumeration value="Same Day TAT, ReCEing"/>
          <xsd:enumeration value="One Day TAT, ReCEing"/>
        </xsd:restriction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mplate" ma:index="37" nillable="true" ma:displayName="Template" ma:format="Dropdown" ma:internalName="Template">
      <xsd:simpleType>
        <xsd:restriction base="dms:Choice">
          <xsd:enumeration value="PACKT"/>
          <xsd:enumeration value="Explorer"/>
          <xsd:enumeration value="PEN"/>
        </xsd:restriction>
      </xsd:simpleType>
    </xsd:element>
    <xsd:element name="Draftstage" ma:index="38" nillable="true" ma:displayName="Draft stage" ma:format="Dropdown" ma:internalName="Draftst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c9ed-2f7a-4860-bf57-8153ff3a210a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b0b99e7b-2d5c-4d76-8978-e279b984ef45}" ma:internalName="TaxCatchAll" ma:showField="CatchAllData" ma:web="c866c9ed-2f7a-4860-bf57-8153ff3a21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fisComment xmlns="53292dda-03c3-4977-bff8-bb8e9ba9cad7" xsi:nil="true"/>
    <TaxCatchAll xmlns="c866c9ed-2f7a-4860-bf57-8153ff3a210a" xsi:nil="true"/>
    <PageCount xmlns="53292dda-03c3-4977-bff8-bb8e9ba9cad7" xsi:nil="true"/>
    <Notes0 xmlns="53292dda-03c3-4977-bff8-bb8e9ba9cad7" xsi:nil="true"/>
    <Early_x0020_Access xmlns="53292dda-03c3-4977-bff8-bb8e9ba9cad7">false</Early_x0020_Access>
    <TR_x0020_Name_x0020_1 xmlns="53292dda-03c3-4977-bff8-bb8e9ba9cad7" xsi:nil="true"/>
    <Reviewer xmlns="53292dda-03c3-4977-bff8-bb8e9ba9cad7" xsi:nil="true"/>
    <Template xmlns="53292dda-03c3-4977-bff8-bb8e9ba9cad7" xsi:nil="true"/>
    <Draftstage xmlns="53292dda-03c3-4977-bff8-bb8e9ba9cad7" xsi:nil="true"/>
    <DaysAllocated xmlns="53292dda-03c3-4977-bff8-bb8e9ba9cad7">1</DaysAllocated>
    <Priority xmlns="53292dda-03c3-4977-bff8-bb8e9ba9cad7">false</Priority>
    <TR_x0020_Score xmlns="53292dda-03c3-4977-bff8-bb8e9ba9cad7" xsi:nil="true"/>
    <lcf76f155ced4ddcb4097134ff3c332f xmlns="53292dda-03c3-4977-bff8-bb8e9ba9cad7">
      <Terms xmlns="http://schemas.microsoft.com/office/infopath/2007/PartnerControls"/>
    </lcf76f155ced4ddcb4097134ff3c332f>
    <Asset_x0020_Number xmlns="53292dda-03c3-4977-bff8-bb8e9ba9cad7" xsi:nil="true"/>
    <Plagiarism_x0020_Originality xmlns="53292dda-03c3-4977-bff8-bb8e9ba9cad7" xsi:nil="true"/>
    <AssetStage xmlns="53292dda-03c3-4977-bff8-bb8e9ba9cad7" xsi:nil="true"/>
    <Process xmlns="53292dda-03c3-4977-bff8-bb8e9ba9cad7">CE</Process>
    <Asset_x0020_Type xmlns="53292dda-03c3-4977-bff8-bb8e9ba9cad7" xsi:nil="true"/>
    <Category xmlns="53292dda-03c3-4977-bff8-bb8e9ba9cad7" xsi:nil="true"/>
  </documentManagement>
</p:properties>
</file>

<file path=customXml/itemProps1.xml><?xml version="1.0" encoding="utf-8"?>
<ds:datastoreItem xmlns:ds="http://schemas.openxmlformats.org/officeDocument/2006/customXml" ds:itemID="{3B892F74-FE26-4BED-B692-7B1B9E26A7F1}"/>
</file>

<file path=customXml/itemProps2.xml><?xml version="1.0" encoding="utf-8"?>
<ds:datastoreItem xmlns:ds="http://schemas.openxmlformats.org/officeDocument/2006/customXml" ds:itemID="{2E74564E-4042-4FEB-A6FA-0875D7AD2044}"/>
</file>

<file path=customXml/itemProps3.xml><?xml version="1.0" encoding="utf-8"?>
<ds:datastoreItem xmlns:ds="http://schemas.openxmlformats.org/officeDocument/2006/customXml" ds:itemID="{DBC7733C-1290-475C-B3C0-C245CC7F4BE0}"/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1389</Words>
  <Application>Microsoft Office PowerPoint</Application>
  <PresentationFormat>Custom</PresentationFormat>
  <Paragraphs>166</Paragraphs>
  <Slides>29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Outfit Bold</vt:lpstr>
      <vt:lpstr>Arial</vt:lpstr>
      <vt:lpstr>Outfit</vt:lpstr>
      <vt:lpstr>Lexend Deca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Ankita Thakur</cp:lastModifiedBy>
  <cp:revision>34</cp:revision>
  <dcterms:created xsi:type="dcterms:W3CDTF">2006-08-16T00:00:00Z</dcterms:created>
  <dcterms:modified xsi:type="dcterms:W3CDTF">2026-04-17T12:30:27Z</dcterms:modified>
  <dc:identifier>DAGmMKGe-eA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0x010100F28CD1E3B10FD647B2C00F8D5CAE40C5</vt:lpwstr>
  </property>
</Properties>
</file>